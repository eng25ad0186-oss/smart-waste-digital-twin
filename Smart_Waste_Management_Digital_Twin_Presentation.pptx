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69680" y="0"/>
            <a:ext cx="3383280" cy="6858000"/>
          </a:xfrm>
          <a:prstGeom prst="rect">
            <a:avLst/>
          </a:prstGeom>
          <a:solidFill>
            <a:srgbClr val="15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0" y="1097280"/>
            <a:ext cx="2011680" cy="1371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09760" y="1508760"/>
            <a:ext cx="1463040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8E1D2"/>
                </a:solidFill>
                <a:latin typeface="Aptos"/>
              </a:defRPr>
            </a:pPr>
            <a:r>
              <a:t>DSU CODE CLASH 2.0  |  PS1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795527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SMART WASTE</a:t>
            </a:r>
            <a:br/>
            <a:r>
              <a:t>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33756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D2E1E8"/>
                </a:solidFill>
                <a:latin typeface="Aptos"/>
              </a:defRPr>
            </a:pPr>
            <a:r>
              <a:t>A Digital Twin for smarter collection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257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ECDD7"/>
                </a:solidFill>
                <a:latin typeface="Aptos"/>
              </a:defRPr>
            </a:pPr>
            <a:r>
              <a:t>Team: [Enter registered team name]</a:t>
            </a:r>
            <a:br/>
            <a:r>
              <a:t>Presenter: [Enter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5480" y="210312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WASTE</a:t>
            </a:r>
            <a:br/>
            <a:r>
              <a:t>→ DATA</a:t>
            </a:r>
            <a:br/>
            <a:r>
              <a:t>→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53492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8E1D2"/>
                </a:solidFill>
                <a:latin typeface="Aptos"/>
              </a:defRPr>
            </a:pPr>
            <a:r>
              <a:t>DESIGN • MONITOR • OPTIMIZE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1. 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33856"/>
            <a:ext cx="123444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BED2DC"/>
                </a:solidFill>
                <a:latin typeface="Aptos"/>
              </a:defRPr>
            </a:pPr>
            <a:r>
              <a:t>Waste collection is often reactive instead of data-driven.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•  Bins can overflow before collection teams know they need attention.</a:t>
            </a:r>
          </a:p>
          <a:p>
            <a:pPr>
              <a:spcAft>
                <a:spcPts val="17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•  Fixed collection schedules can waste time and fuel when bins are not full.</a:t>
            </a:r>
          </a:p>
          <a:p>
            <a:pPr>
              <a:spcAft>
                <a:spcPts val="17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•  Waste streams may be mixed, reducing recycling quality.</a:t>
            </a:r>
          </a:p>
          <a:p>
            <a:pPr>
              <a:spcAft>
                <a:spcPts val="17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•  Campuses need simple, understandable information to improve waste practices.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2. Proposed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33856"/>
            <a:ext cx="123444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BED2DC"/>
                </a:solidFill>
                <a:latin typeface="Aptos"/>
              </a:defRPr>
            </a:pPr>
            <a:r>
              <a:t>A lightweight digital representation of campus waste bins.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Represent each physical bin as a virtual bin with location, category and fill level.</a:t>
            </a:r>
          </a:p>
          <a:p>
            <a:pPr>
              <a:spcAft>
                <a:spcPts val="17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Update fill levels from simulated sensor readings for the prototype.</a:t>
            </a:r>
          </a:p>
          <a:p>
            <a:pPr>
              <a:spcAft>
                <a:spcPts val="17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Flag bins that cross a configurable collection threshold.</a:t>
            </a:r>
          </a:p>
          <a:p>
            <a:pPr>
              <a:spcAft>
                <a:spcPts val="17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Show a dashboard for bin status, collection priority and waste-category totals.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3. How the Digital Twin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33856"/>
            <a:ext cx="123444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BED2DC"/>
                </a:solidFill>
                <a:latin typeface="Aptos"/>
              </a:defRPr>
            </a:pPr>
            <a:r>
              <a:t>Prototype architecture — simulated data is clearly labelled.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23160"/>
            <a:ext cx="2194560" cy="1234440"/>
          </a:xfrm>
          <a:prstGeom prst="roundRect">
            <a:avLst/>
          </a:prstGeom>
          <a:solidFill>
            <a:srgbClr val="009688"/>
          </a:solidFill>
          <a:ln>
            <a:solidFill>
              <a:srgbClr val="78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SIMULATED</a:t>
            </a:r>
            <a:br/>
            <a:r>
              <a:t>BIN SENSOR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2423160"/>
            <a:ext cx="2194560" cy="1234440"/>
          </a:xfrm>
          <a:prstGeom prst="roundRect">
            <a:avLst/>
          </a:prstGeom>
          <a:solidFill>
            <a:srgbClr val="346982"/>
          </a:solidFill>
          <a:ln>
            <a:solidFill>
              <a:srgbClr val="78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JAVA LOGIC</a:t>
            </a:r>
            <a:br/>
            <a:r>
              <a:t>THRESHOLDS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2423160"/>
            <a:ext cx="2194560" cy="1234440"/>
          </a:xfrm>
          <a:prstGeom prst="roundRect">
            <a:avLst/>
          </a:prstGeom>
          <a:solidFill>
            <a:srgbClr val="346982"/>
          </a:solidFill>
          <a:ln>
            <a:solidFill>
              <a:srgbClr val="78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DIGITAL TWIN</a:t>
            </a:r>
            <a:br/>
            <a:r>
              <a:t>BIN 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2423160"/>
            <a:ext cx="2834640" cy="1234440"/>
          </a:xfrm>
          <a:prstGeom prst="roundRect">
            <a:avLst/>
          </a:prstGeom>
          <a:solidFill>
            <a:srgbClr val="009688"/>
          </a:solidFill>
          <a:ln>
            <a:solidFill>
              <a:srgbClr val="78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DASHBOARD</a:t>
            </a:r>
            <a:br/>
            <a:r>
              <a:t>ALERTS +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697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78E1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697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78E1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697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78E1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DDCE4"/>
                </a:solidFill>
                <a:latin typeface="Aptos"/>
              </a:defRPr>
            </a:pPr>
            <a:r>
              <a:t>Data flow: read level → evaluate threshold → update virtual state → recommend collection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57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5BE64"/>
                </a:solidFill>
                <a:latin typeface="Aptos"/>
              </a:defRPr>
            </a:pPr>
            <a:r>
              <a:t>Integrity note: simulated readings demonstrate the concept; they are not measurements from deployed hardware.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4. Core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33856"/>
            <a:ext cx="123444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BED2DC"/>
                </a:solidFill>
                <a:latin typeface="Aptos"/>
              </a:defRPr>
            </a:pPr>
            <a:r>
              <a:t>Build a reliable minimum viable prototype 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Virtual bin registry: bin ID, location, waste type and fill percentage.</a:t>
            </a:r>
          </a:p>
          <a:p>
            <a:pPr>
              <a:spcAft>
                <a:spcPts val="17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Status labels: Normal, Attention, Collection Needed.</a:t>
            </a:r>
          </a:p>
          <a:p>
            <a:pPr>
              <a:spcAft>
                <a:spcPts val="17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Priority queue: sort bins by fill percentage and threshold.</a:t>
            </a:r>
          </a:p>
          <a:p>
            <a:pPr>
              <a:spcAft>
                <a:spcPts val="17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Summary metrics: total bins, bins requiring collection, average fill level.</a:t>
            </a:r>
          </a:p>
          <a:p>
            <a:pPr>
              <a:spcAft>
                <a:spcPts val="17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Optional extension: separate waste streams and collection history.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5. Decision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33856"/>
            <a:ext cx="123444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BED2DC"/>
                </a:solidFill>
                <a:latin typeface="Aptos"/>
              </a:defRPr>
            </a:pPr>
            <a:r>
              <a:t>Simple rules are transparent and easy to validate.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Input: bin ID, category, location and fill percentage (0–100).</a:t>
            </a:r>
          </a:p>
          <a:p>
            <a:pPr>
              <a:spcAft>
                <a:spcPts val="17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Validate that the fill percentage is within the allowed range.</a:t>
            </a:r>
          </a:p>
          <a:p>
            <a:pPr>
              <a:spcAft>
                <a:spcPts val="17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If fill ≥ 80%: mark “Collection Needed”.</a:t>
            </a:r>
          </a:p>
          <a:p>
            <a:pPr>
              <a:spcAft>
                <a:spcPts val="17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Else if fill ≥ 60%: mark “Attention”. Otherwise: mark “Normal”.</a:t>
            </a:r>
          </a:p>
          <a:p>
            <a:pPr>
              <a:spcAft>
                <a:spcPts val="17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Sort collection-needed bins by highest fill level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9893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0CDD2"/>
                </a:solidFill>
                <a:latin typeface="Aptos"/>
              </a:defRPr>
            </a:pPr>
            <a:r>
              <a:t>Thresholds are configurable example values; calibrate them for real operations.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6. Expected impact &amp;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33856"/>
            <a:ext cx="123444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BED2DC"/>
                </a:solidFill>
                <a:latin typeface="Aptos"/>
              </a:defRPr>
            </a:pPr>
            <a:r>
              <a:t>Measure results rather than claiming unverified savings.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Operational: identify high-fill bins sooner in the simulated environment.</a:t>
            </a:r>
          </a:p>
          <a:p>
            <a:pPr>
              <a:spcAft>
                <a:spcPts val="1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Resource use: support route planning and fewer unnecessary collection stops.</a:t>
            </a:r>
          </a:p>
          <a:p>
            <a:pPr>
              <a:spcAft>
                <a:spcPts val="1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Environmental: encourage correct segregation and reduce overflow incidents.</a:t>
            </a:r>
          </a:p>
          <a:p>
            <a:pPr>
              <a:spcAft>
                <a:spcPts val="1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Evaluate with test cases: 20%, 60%, 80%, 100%, invalid values and missing readings.</a:t>
            </a:r>
          </a:p>
          <a:p>
            <a:pPr>
              <a:spcAft>
                <a:spcPts val="1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Report measured prototype results; do not claim real-world fuel or carbon reductions without field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7. Demonstration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33856"/>
            <a:ext cx="123444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BED2DC"/>
                </a:solidFill>
                <a:latin typeface="Aptos"/>
              </a:defRPr>
            </a:pPr>
            <a:r>
              <a:t>A short, honest walkthrough.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Show a set of virtual bins with different fill levels.</a:t>
            </a:r>
          </a:p>
          <a:p>
            <a:pPr>
              <a:spcAft>
                <a:spcPts val="17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Change one bin from 55% to 88% and show its status update.</a:t>
            </a:r>
          </a:p>
          <a:p>
            <a:pPr>
              <a:spcAft>
                <a:spcPts val="17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Demonstrate that the highest-fill bin appears first in the collection queue.</a:t>
            </a:r>
          </a:p>
          <a:p>
            <a:pPr>
              <a:spcAft>
                <a:spcPts val="17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Show summary counts and explain the configurable threshold.</a:t>
            </a:r>
          </a:p>
          <a:p>
            <a:pPr>
              <a:spcAft>
                <a:spcPts val="17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State clearly that this prototype uses simulated readings unless connected to actual sensors.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8. Limitations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33856"/>
            <a:ext cx="123444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BED2DC"/>
                </a:solidFill>
                <a:latin typeface="Aptos"/>
              </a:defRPr>
            </a:pPr>
            <a:r>
              <a:t>A credible prototype is a foundation, not a finished city-scale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Current prototype scope: virtual bins and simulated readings.</a:t>
            </a:r>
          </a:p>
          <a:p>
            <a:pPr>
              <a:spcAft>
                <a:spcPts val="17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Next: connect IoT fill-level sensors and a live data service.</a:t>
            </a:r>
          </a:p>
          <a:p>
            <a:pPr>
              <a:spcAft>
                <a:spcPts val="17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Next: add map-based bin locations and route optimization.</a:t>
            </a:r>
          </a:p>
          <a:p>
            <a:pPr>
              <a:spcAft>
                <a:spcPts val="17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Next: add image-assisted waste classification with confidence and manual correction.</a:t>
            </a:r>
          </a:p>
          <a:p>
            <a:pPr>
              <a:spcAft>
                <a:spcPts val="17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Next: pilot on campus and compare against a baseline collection schedule.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78E1D2"/>
                </a:solidFill>
                <a:latin typeface="Aptos"/>
              </a:defRPr>
            </a:pPr>
            <a:r>
              <a:t>SMARTER COLLECTION STARTS WITH BETTER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From virtual bins to actionable collection priorities.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886200"/>
            <a:ext cx="9875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  <a:br/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ABECD"/>
                </a:solidFill>
                <a:latin typeface="Aptos"/>
              </a:defRPr>
            </a:pPr>
            <a:r>
              <a:t>DSU Code Clash 2.0 • PS1 — Smart Waste Management Digital Twin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